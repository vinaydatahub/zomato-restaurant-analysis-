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8" r:id="rId5"/>
    <p:sldId id="262" r:id="rId6"/>
    <p:sldId id="264" r:id="rId7"/>
    <p:sldId id="266" r:id="rId8"/>
    <p:sldId id="267" r:id="rId9"/>
    <p:sldId id="268" r:id="rId10"/>
    <p:sldId id="269" r:id="rId11"/>
    <p:sldId id="265" r:id="rId12"/>
    <p:sldId id="270" r:id="rId13"/>
    <p:sldId id="271" r:id="rId14"/>
    <p:sldId id="257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0B55"/>
    <a:srgbClr val="D6101E"/>
    <a:srgbClr val="CB0F1C"/>
    <a:srgbClr val="DE101F"/>
    <a:srgbClr val="F1414E"/>
    <a:srgbClr val="F91F62"/>
    <a:srgbClr val="FB3543"/>
    <a:srgbClr val="F35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55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525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40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480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259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38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060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080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39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2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295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BB2D0-8AE4-43CB-B3DE-58D13C3F0AF2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8E901-8584-4672-9F10-FEA6E2213F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8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194169" cy="6858000"/>
          </a:xfrm>
          <a:prstGeom prst="rect">
            <a:avLst/>
          </a:prstGeom>
          <a:solidFill>
            <a:srgbClr val="F90B55"/>
          </a:solidFill>
          <a:ln>
            <a:solidFill>
              <a:srgbClr val="F90B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B3543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778633" y="739216"/>
            <a:ext cx="5533534" cy="4813169"/>
            <a:chOff x="5797485" y="701511"/>
            <a:chExt cx="5646655" cy="5454976"/>
          </a:xfrm>
        </p:grpSpPr>
        <p:sp>
          <p:nvSpPr>
            <p:cNvPr id="6" name="Rectangle 5"/>
            <p:cNvSpPr/>
            <p:nvPr/>
          </p:nvSpPr>
          <p:spPr>
            <a:xfrm>
              <a:off x="7032395" y="701511"/>
              <a:ext cx="4411745" cy="5454976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5797485" y="829559"/>
              <a:ext cx="5495826" cy="5156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Rectangle 4"/>
          <p:cNvSpPr/>
          <p:nvPr/>
        </p:nvSpPr>
        <p:spPr>
          <a:xfrm>
            <a:off x="5194169" y="1038909"/>
            <a:ext cx="5797485" cy="421378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266421" y="1693333"/>
            <a:ext cx="582506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500" b="1" dirty="0" err="1" smtClean="0">
                <a:solidFill>
                  <a:schemeClr val="bg1"/>
                </a:solidFill>
              </a:rPr>
              <a:t>zomato</a:t>
            </a:r>
            <a:endParaRPr lang="en-IN" sz="11500" b="1" dirty="0" smtClean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421" y="3855860"/>
            <a:ext cx="4555294" cy="707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90B55"/>
                </a:solidFill>
              </a:rPr>
              <a:t>Restaurants </a:t>
            </a:r>
            <a:r>
              <a:rPr lang="en-IN" sz="4000" b="1" dirty="0" smtClean="0">
                <a:solidFill>
                  <a:srgbClr val="F90B55"/>
                </a:solidFill>
              </a:rPr>
              <a:t>Analysis</a:t>
            </a:r>
            <a:endParaRPr lang="en-IN" sz="3600" b="1" dirty="0" smtClean="0">
              <a:solidFill>
                <a:srgbClr val="F90B55"/>
              </a:solidFill>
            </a:endParaRPr>
          </a:p>
        </p:txBody>
      </p:sp>
      <p:pic>
        <p:nvPicPr>
          <p:cNvPr id="1026" name="Picture 2" descr="Zomato's revenue from operations doubles to Rs 2,604 cr amid pandemic |  Company News - Business Standard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169" y="1038909"/>
            <a:ext cx="5797485" cy="4213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899662" y="6179274"/>
            <a:ext cx="4157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Presented By : Group 2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87220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283908"/>
            <a:ext cx="5844619" cy="6315959"/>
            <a:chOff x="5476973" y="254524"/>
            <a:chExt cx="6410227" cy="6315959"/>
          </a:xfrm>
        </p:grpSpPr>
        <p:grpSp>
          <p:nvGrpSpPr>
            <p:cNvPr id="4" name="Group 3"/>
            <p:cNvGrpSpPr/>
            <p:nvPr/>
          </p:nvGrpSpPr>
          <p:grpSpPr>
            <a:xfrm>
              <a:off x="5476973" y="254524"/>
              <a:ext cx="6410227" cy="6315959"/>
              <a:chOff x="2949171" y="701511"/>
              <a:chExt cx="8494969" cy="545497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3826070" y="701511"/>
                <a:ext cx="7618070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5942536" y="762581"/>
              <a:ext cx="754448" cy="525073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975834" y="1375321"/>
            <a:ext cx="4961051" cy="4176075"/>
            <a:chOff x="6513921" y="1395164"/>
            <a:chExt cx="4961051" cy="4176075"/>
          </a:xfrm>
        </p:grpSpPr>
        <p:grpSp>
          <p:nvGrpSpPr>
            <p:cNvPr id="9" name="Group 8"/>
            <p:cNvGrpSpPr/>
            <p:nvPr/>
          </p:nvGrpSpPr>
          <p:grpSpPr>
            <a:xfrm rot="10800000">
              <a:off x="6513921" y="1395164"/>
              <a:ext cx="4896391" cy="4176075"/>
              <a:chOff x="2949171" y="701511"/>
              <a:chExt cx="8494969" cy="5454976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" name="Rectangle 1"/>
            <p:cNvSpPr/>
            <p:nvPr/>
          </p:nvSpPr>
          <p:spPr>
            <a:xfrm>
              <a:off x="6808703" y="1706746"/>
              <a:ext cx="4666269" cy="3562340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116477" y="2780907"/>
            <a:ext cx="30354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>
                <a:solidFill>
                  <a:schemeClr val="bg1"/>
                </a:solidFill>
              </a:rPr>
              <a:t>TABLE OF CONTENTS</a:t>
            </a:r>
            <a:endParaRPr lang="en-IN" sz="4400" b="1" dirty="0">
              <a:solidFill>
                <a:schemeClr val="bg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793375" y="1336869"/>
            <a:ext cx="193111" cy="2088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1140645" y="1187033"/>
            <a:ext cx="323339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smtClean="0"/>
              <a:t>Introduction</a:t>
            </a:r>
          </a:p>
          <a:p>
            <a:endParaRPr lang="en-IN" sz="2400" b="1" dirty="0" smtClean="0"/>
          </a:p>
          <a:p>
            <a:r>
              <a:rPr lang="en-IN" sz="2400" b="1" dirty="0" smtClean="0"/>
              <a:t>Objectives</a:t>
            </a:r>
          </a:p>
          <a:p>
            <a:endParaRPr lang="en-IN" sz="2400" b="1" dirty="0" smtClean="0"/>
          </a:p>
          <a:p>
            <a:r>
              <a:rPr lang="en-IN" sz="2400" b="1" dirty="0" smtClean="0"/>
              <a:t>Challenges Faced</a:t>
            </a:r>
          </a:p>
          <a:p>
            <a:endParaRPr lang="en-IN" sz="2400" b="1" dirty="0" smtClean="0"/>
          </a:p>
          <a:p>
            <a:r>
              <a:rPr lang="en-IN" sz="2400" b="1" dirty="0" smtClean="0"/>
              <a:t>Key Insights</a:t>
            </a:r>
          </a:p>
          <a:p>
            <a:endParaRPr lang="en-IN" sz="2400" b="1" dirty="0" smtClean="0"/>
          </a:p>
          <a:p>
            <a:r>
              <a:rPr lang="en-IN" sz="2400" b="1" dirty="0" smtClean="0"/>
              <a:t>Dashboard</a:t>
            </a:r>
          </a:p>
          <a:p>
            <a:endParaRPr lang="en-IN" sz="2400" b="1" dirty="0" smtClean="0"/>
          </a:p>
          <a:p>
            <a:r>
              <a:rPr lang="en-IN" sz="2400" b="1" dirty="0" smtClean="0"/>
              <a:t>Conclusion</a:t>
            </a:r>
            <a:endParaRPr lang="en-IN" sz="2400" b="1" dirty="0"/>
          </a:p>
        </p:txBody>
      </p:sp>
      <p:sp>
        <p:nvSpPr>
          <p:cNvPr id="17" name="Oval 16"/>
          <p:cNvSpPr/>
          <p:nvPr/>
        </p:nvSpPr>
        <p:spPr>
          <a:xfrm>
            <a:off x="787833" y="2049442"/>
            <a:ext cx="193111" cy="2088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/>
          <p:cNvSpPr/>
          <p:nvPr/>
        </p:nvSpPr>
        <p:spPr>
          <a:xfrm>
            <a:off x="793375" y="2787870"/>
            <a:ext cx="193111" cy="2088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/>
          <p:cNvSpPr/>
          <p:nvPr/>
        </p:nvSpPr>
        <p:spPr>
          <a:xfrm>
            <a:off x="787832" y="4982559"/>
            <a:ext cx="193111" cy="2088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789887" y="4310843"/>
            <a:ext cx="193111" cy="2088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793374" y="3534688"/>
            <a:ext cx="193111" cy="20887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240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72379" y="5637622"/>
            <a:ext cx="7903065" cy="990600"/>
          </a:xfrm>
          <a:prstGeom prst="rect">
            <a:avLst/>
          </a:prstGeom>
          <a:solidFill>
            <a:srgbClr val="F90B55"/>
          </a:solidFill>
          <a:ln>
            <a:solidFill>
              <a:srgbClr val="F90B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B3543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9108" y="131974"/>
            <a:ext cx="3770723" cy="649624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79109" y="584461"/>
            <a:ext cx="3770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bg1"/>
                </a:solidFill>
              </a:rPr>
              <a:t>INTRODUCTION</a:t>
            </a:r>
            <a:endParaRPr lang="en-IN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36330" y="923827"/>
            <a:ext cx="763911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 smtClean="0">
                <a:solidFill>
                  <a:srgbClr val="F90B55"/>
                </a:solidFill>
              </a:rPr>
              <a:t>Zomato</a:t>
            </a:r>
            <a:r>
              <a:rPr lang="en-IN" sz="2400" dirty="0" smtClean="0"/>
              <a:t> is a leading online food delivery and restaurant discovery platform operating across multiple countries.</a:t>
            </a:r>
          </a:p>
          <a:p>
            <a:r>
              <a:rPr lang="en-IN" sz="2400" dirty="0" smtClean="0"/>
              <a:t/>
            </a:r>
            <a:br>
              <a:rPr lang="en-IN" sz="2400" dirty="0" smtClean="0"/>
            </a:br>
            <a:r>
              <a:rPr lang="en-IN" sz="2400" dirty="0" smtClean="0"/>
              <a:t>This project focuses on </a:t>
            </a:r>
            <a:r>
              <a:rPr lang="en-IN" sz="2400" dirty="0" err="1" smtClean="0"/>
              <a:t>analyzing</a:t>
            </a:r>
            <a:r>
              <a:rPr lang="en-IN" sz="2400" dirty="0" smtClean="0"/>
              <a:t> restaurant data available on</a:t>
            </a:r>
            <a:r>
              <a:rPr lang="en-IN" sz="2400" b="1" dirty="0" smtClean="0"/>
              <a:t> </a:t>
            </a:r>
            <a:r>
              <a:rPr lang="en-IN" sz="2400" b="1" dirty="0" err="1" smtClean="0">
                <a:solidFill>
                  <a:srgbClr val="F90B55"/>
                </a:solidFill>
              </a:rPr>
              <a:t>Zomato</a:t>
            </a:r>
            <a:r>
              <a:rPr lang="en-IN" sz="2400" b="1" dirty="0" smtClean="0"/>
              <a:t> </a:t>
            </a:r>
            <a:r>
              <a:rPr lang="en-IN" sz="2400" dirty="0" smtClean="0"/>
              <a:t>to understand customer preferences, restaurant distribution, pricing, ratings, and service availability such as online delivery and table booking.</a:t>
            </a:r>
          </a:p>
          <a:p>
            <a:endParaRPr lang="en-IN" sz="2400" dirty="0" smtClean="0"/>
          </a:p>
          <a:p>
            <a:r>
              <a:rPr lang="en-IN" sz="2400" dirty="0" smtClean="0"/>
              <a:t>The dashboards created provide a comprehensive view of restaurant performance across </a:t>
            </a:r>
            <a:r>
              <a:rPr lang="en-IN" sz="2400" b="1" dirty="0" smtClean="0"/>
              <a:t>15 countries</a:t>
            </a:r>
            <a:r>
              <a:rPr lang="en-IN" sz="2400" dirty="0" smtClean="0"/>
              <a:t> over multiple years.</a:t>
            </a:r>
          </a:p>
          <a:p>
            <a:endParaRPr lang="en-IN" sz="2400" b="1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54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73755" y="179502"/>
            <a:ext cx="10566400" cy="990600"/>
          </a:xfrm>
          <a:prstGeom prst="rect">
            <a:avLst/>
          </a:prstGeom>
          <a:solidFill>
            <a:srgbClr val="F90B55"/>
          </a:solidFill>
          <a:ln>
            <a:solidFill>
              <a:srgbClr val="F90B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B3543"/>
              </a:solidFill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688932" y="1432149"/>
            <a:ext cx="938229" cy="856853"/>
            <a:chOff x="5476973" y="254524"/>
            <a:chExt cx="6410227" cy="6315959"/>
          </a:xfrm>
        </p:grpSpPr>
        <p:grpSp>
          <p:nvGrpSpPr>
            <p:cNvPr id="25" name="Group 24"/>
            <p:cNvGrpSpPr/>
            <p:nvPr/>
          </p:nvGrpSpPr>
          <p:grpSpPr>
            <a:xfrm>
              <a:off x="5476973" y="254524"/>
              <a:ext cx="6410227" cy="6315959"/>
              <a:chOff x="2949171" y="701511"/>
              <a:chExt cx="8494969" cy="5454976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26" name="Rectangle 25"/>
            <p:cNvSpPr/>
            <p:nvPr/>
          </p:nvSpPr>
          <p:spPr>
            <a:xfrm>
              <a:off x="5580669" y="492256"/>
              <a:ext cx="6052007" cy="578599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73755" y="2442786"/>
            <a:ext cx="938229" cy="856853"/>
            <a:chOff x="5476973" y="254524"/>
            <a:chExt cx="6410227" cy="6315959"/>
          </a:xfrm>
        </p:grpSpPr>
        <p:grpSp>
          <p:nvGrpSpPr>
            <p:cNvPr id="30" name="Group 29"/>
            <p:cNvGrpSpPr/>
            <p:nvPr/>
          </p:nvGrpSpPr>
          <p:grpSpPr>
            <a:xfrm>
              <a:off x="5476973" y="254524"/>
              <a:ext cx="6410227" cy="6315959"/>
              <a:chOff x="2949171" y="701511"/>
              <a:chExt cx="8494969" cy="5454976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1" name="Rectangle 30"/>
            <p:cNvSpPr/>
            <p:nvPr/>
          </p:nvSpPr>
          <p:spPr>
            <a:xfrm>
              <a:off x="5580669" y="492256"/>
              <a:ext cx="6052007" cy="578599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691897" y="3431972"/>
            <a:ext cx="938229" cy="856853"/>
            <a:chOff x="5476973" y="254524"/>
            <a:chExt cx="6410227" cy="6315959"/>
          </a:xfrm>
        </p:grpSpPr>
        <p:grpSp>
          <p:nvGrpSpPr>
            <p:cNvPr id="35" name="Group 34"/>
            <p:cNvGrpSpPr/>
            <p:nvPr/>
          </p:nvGrpSpPr>
          <p:grpSpPr>
            <a:xfrm>
              <a:off x="5476973" y="254524"/>
              <a:ext cx="6410227" cy="6315959"/>
              <a:chOff x="2949171" y="701511"/>
              <a:chExt cx="8494969" cy="5454976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36" name="Rectangle 35"/>
            <p:cNvSpPr/>
            <p:nvPr/>
          </p:nvSpPr>
          <p:spPr>
            <a:xfrm>
              <a:off x="5580669" y="492256"/>
              <a:ext cx="6052007" cy="578599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02936" y="4433783"/>
            <a:ext cx="938229" cy="856853"/>
            <a:chOff x="5476973" y="254524"/>
            <a:chExt cx="6410227" cy="6315959"/>
          </a:xfrm>
        </p:grpSpPr>
        <p:grpSp>
          <p:nvGrpSpPr>
            <p:cNvPr id="40" name="Group 39"/>
            <p:cNvGrpSpPr/>
            <p:nvPr/>
          </p:nvGrpSpPr>
          <p:grpSpPr>
            <a:xfrm>
              <a:off x="5476973" y="254524"/>
              <a:ext cx="6410227" cy="6315959"/>
              <a:chOff x="2949171" y="701511"/>
              <a:chExt cx="8494969" cy="5454976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43" name="Rectangle 42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1" name="Rectangle 40"/>
            <p:cNvSpPr/>
            <p:nvPr/>
          </p:nvSpPr>
          <p:spPr>
            <a:xfrm>
              <a:off x="5580669" y="492256"/>
              <a:ext cx="6052007" cy="578599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716228" y="5417643"/>
            <a:ext cx="938229" cy="856853"/>
            <a:chOff x="5476973" y="254524"/>
            <a:chExt cx="6410227" cy="6315959"/>
          </a:xfrm>
        </p:grpSpPr>
        <p:grpSp>
          <p:nvGrpSpPr>
            <p:cNvPr id="45" name="Group 44"/>
            <p:cNvGrpSpPr/>
            <p:nvPr/>
          </p:nvGrpSpPr>
          <p:grpSpPr>
            <a:xfrm>
              <a:off x="5476973" y="254524"/>
              <a:ext cx="6410227" cy="6315959"/>
              <a:chOff x="2949171" y="701511"/>
              <a:chExt cx="8494969" cy="5454976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46" name="Rectangle 45"/>
            <p:cNvSpPr/>
            <p:nvPr/>
          </p:nvSpPr>
          <p:spPr>
            <a:xfrm>
              <a:off x="5580669" y="492256"/>
              <a:ext cx="6052007" cy="578599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896213" y="1482788"/>
            <a:ext cx="556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 smtClean="0"/>
              <a:t>1</a:t>
            </a:r>
            <a:endParaRPr lang="en-IN" b="1" dirty="0"/>
          </a:p>
        </p:txBody>
      </p:sp>
      <p:sp>
        <p:nvSpPr>
          <p:cNvPr id="49" name="TextBox 48"/>
          <p:cNvSpPr txBox="1"/>
          <p:nvPr/>
        </p:nvSpPr>
        <p:spPr>
          <a:xfrm>
            <a:off x="868917" y="2503421"/>
            <a:ext cx="556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2</a:t>
            </a:r>
            <a:endParaRPr lang="en-IN" b="1" dirty="0"/>
          </a:p>
        </p:txBody>
      </p:sp>
      <p:sp>
        <p:nvSpPr>
          <p:cNvPr id="50" name="TextBox 49"/>
          <p:cNvSpPr txBox="1"/>
          <p:nvPr/>
        </p:nvSpPr>
        <p:spPr>
          <a:xfrm>
            <a:off x="853740" y="3473536"/>
            <a:ext cx="556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3</a:t>
            </a:r>
            <a:endParaRPr lang="en-IN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875818" y="4502175"/>
            <a:ext cx="556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4</a:t>
            </a:r>
            <a:endParaRPr lang="en-IN" b="1" dirty="0"/>
          </a:p>
        </p:txBody>
      </p:sp>
      <p:sp>
        <p:nvSpPr>
          <p:cNvPr id="52" name="TextBox 51"/>
          <p:cNvSpPr txBox="1"/>
          <p:nvPr/>
        </p:nvSpPr>
        <p:spPr>
          <a:xfrm>
            <a:off x="882921" y="5478346"/>
            <a:ext cx="5561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5</a:t>
            </a:r>
            <a:endParaRPr lang="en-IN" b="1" dirty="0"/>
          </a:p>
        </p:txBody>
      </p:sp>
      <p:sp>
        <p:nvSpPr>
          <p:cNvPr id="3" name="TextBox 2"/>
          <p:cNvSpPr txBox="1"/>
          <p:nvPr/>
        </p:nvSpPr>
        <p:spPr>
          <a:xfrm>
            <a:off x="749015" y="292231"/>
            <a:ext cx="3313938" cy="70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chemeClr val="bg1"/>
                </a:solidFill>
              </a:rPr>
              <a:t>OBJECTIVES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82794" y="1630263"/>
            <a:ext cx="910007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To </a:t>
            </a:r>
            <a:r>
              <a:rPr lang="en-IN" sz="2200" dirty="0" err="1"/>
              <a:t>analyze</a:t>
            </a:r>
            <a:r>
              <a:rPr lang="en-IN" sz="2200" dirty="0"/>
              <a:t> the global presence of </a:t>
            </a:r>
            <a:r>
              <a:rPr lang="en-IN" sz="2200" dirty="0" err="1"/>
              <a:t>Zomato</a:t>
            </a:r>
            <a:r>
              <a:rPr lang="en-IN" sz="2200" dirty="0"/>
              <a:t>-listed </a:t>
            </a:r>
            <a:r>
              <a:rPr lang="en-IN" sz="2200" dirty="0" smtClean="0"/>
              <a:t>restaurants</a:t>
            </a:r>
          </a:p>
          <a:p>
            <a:endParaRPr lang="en-IN" sz="2200" dirty="0"/>
          </a:p>
          <a:p>
            <a:endParaRPr lang="en-IN" sz="2200" dirty="0"/>
          </a:p>
          <a:p>
            <a:r>
              <a:rPr lang="en-IN" sz="2200" dirty="0"/>
              <a:t>To understand customer engagement using ratings and </a:t>
            </a:r>
            <a:r>
              <a:rPr lang="en-IN" sz="2200" dirty="0" smtClean="0"/>
              <a:t>votes</a:t>
            </a:r>
          </a:p>
          <a:p>
            <a:endParaRPr lang="en-IN" sz="2200" dirty="0"/>
          </a:p>
          <a:p>
            <a:endParaRPr lang="en-IN" sz="2200" dirty="0"/>
          </a:p>
          <a:p>
            <a:r>
              <a:rPr lang="en-IN" sz="2200" dirty="0"/>
              <a:t>To compare average cost for two across different </a:t>
            </a:r>
            <a:r>
              <a:rPr lang="en-IN" sz="2200" dirty="0" smtClean="0"/>
              <a:t>countries</a:t>
            </a:r>
          </a:p>
          <a:p>
            <a:endParaRPr lang="en-IN" sz="2200" dirty="0"/>
          </a:p>
          <a:p>
            <a:endParaRPr lang="en-IN" sz="2200" dirty="0"/>
          </a:p>
          <a:p>
            <a:r>
              <a:rPr lang="en-IN" sz="2200" dirty="0"/>
              <a:t>To </a:t>
            </a:r>
            <a:r>
              <a:rPr lang="en-IN" sz="2200" dirty="0" err="1"/>
              <a:t>analyze</a:t>
            </a:r>
            <a:r>
              <a:rPr lang="en-IN" sz="2200" dirty="0"/>
              <a:t> availability of online delivery and table booking </a:t>
            </a:r>
            <a:r>
              <a:rPr lang="en-IN" sz="2200" dirty="0" smtClean="0"/>
              <a:t>services</a:t>
            </a:r>
          </a:p>
          <a:p>
            <a:endParaRPr lang="en-IN" sz="2200" dirty="0"/>
          </a:p>
          <a:p>
            <a:endParaRPr lang="en-IN" sz="2200" dirty="0"/>
          </a:p>
          <a:p>
            <a:r>
              <a:rPr lang="en-IN" sz="2200" dirty="0"/>
              <a:t>To identify trends in restaurant openings over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77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50466" y="2207891"/>
            <a:ext cx="11564331" cy="3580876"/>
            <a:chOff x="292100" y="2324625"/>
            <a:chExt cx="11564331" cy="2818876"/>
          </a:xfrm>
        </p:grpSpPr>
        <p:grpSp>
          <p:nvGrpSpPr>
            <p:cNvPr id="2" name="Group 1"/>
            <p:cNvGrpSpPr/>
            <p:nvPr/>
          </p:nvGrpSpPr>
          <p:grpSpPr>
            <a:xfrm>
              <a:off x="5446204" y="2324625"/>
              <a:ext cx="6410227" cy="2818876"/>
              <a:chOff x="2949171" y="701511"/>
              <a:chExt cx="8494969" cy="5454976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4" name="Rectangle 3"/>
              <p:cNvSpPr/>
              <p:nvPr/>
            </p:nvSpPr>
            <p:spPr>
              <a:xfrm>
                <a:off x="2949171" y="995413"/>
                <a:ext cx="8295089" cy="51610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5" name="Group 4"/>
            <p:cNvGrpSpPr/>
            <p:nvPr/>
          </p:nvGrpSpPr>
          <p:grpSpPr>
            <a:xfrm flipH="1" flipV="1">
              <a:off x="292100" y="2324625"/>
              <a:ext cx="5880100" cy="2818874"/>
              <a:chOff x="2949171" y="701511"/>
              <a:chExt cx="8494969" cy="545497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949171" y="995413"/>
                <a:ext cx="8295089" cy="516107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623098" y="2633036"/>
            <a:ext cx="10952818" cy="2730582"/>
            <a:chOff x="600398" y="2846231"/>
            <a:chExt cx="11214937" cy="2730582"/>
          </a:xfrm>
        </p:grpSpPr>
        <p:sp>
          <p:nvSpPr>
            <p:cNvPr id="9" name="Rectangle 8"/>
            <p:cNvSpPr/>
            <p:nvPr/>
          </p:nvSpPr>
          <p:spPr>
            <a:xfrm rot="10800000">
              <a:off x="600398" y="2846232"/>
              <a:ext cx="2168202" cy="2730581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 rot="10800000">
              <a:off x="9647133" y="2846231"/>
              <a:ext cx="2168202" cy="2730581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 rot="10800000">
              <a:off x="5123767" y="2846231"/>
              <a:ext cx="2168202" cy="2730581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 rot="10800000">
              <a:off x="2862083" y="2846232"/>
              <a:ext cx="2168202" cy="2730581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 rot="10800000">
              <a:off x="7385450" y="2846231"/>
              <a:ext cx="2168202" cy="2730581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3601039" y="641023"/>
            <a:ext cx="5634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 smtClean="0">
                <a:solidFill>
                  <a:srgbClr val="F90B55"/>
                </a:solidFill>
              </a:rPr>
              <a:t>CHALLENGES</a:t>
            </a:r>
            <a:r>
              <a:rPr lang="en-IN" sz="4000" b="1" dirty="0" smtClean="0"/>
              <a:t>  FACED</a:t>
            </a:r>
            <a:endParaRPr lang="en-IN" sz="4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676352" y="2685963"/>
            <a:ext cx="196751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400" dirty="0">
                <a:solidFill>
                  <a:schemeClr val="bg1"/>
                </a:solidFill>
              </a:rPr>
              <a:t>Handling large datasets with </a:t>
            </a:r>
            <a:r>
              <a:rPr lang="en-IN" sz="2400" b="1" dirty="0">
                <a:solidFill>
                  <a:schemeClr val="bg1"/>
                </a:solidFill>
              </a:rPr>
              <a:t>9,500+ restaurant </a:t>
            </a:r>
            <a:r>
              <a:rPr lang="en-IN" sz="2400" b="1" dirty="0" smtClean="0">
                <a:solidFill>
                  <a:schemeClr val="bg1"/>
                </a:solidFill>
              </a:rPr>
              <a:t>records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06926" y="2685963"/>
            <a:ext cx="1967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400" dirty="0">
                <a:solidFill>
                  <a:schemeClr val="bg1"/>
                </a:solidFill>
              </a:rPr>
              <a:t>Converting different country currencies into </a:t>
            </a:r>
            <a:r>
              <a:rPr lang="en-IN" sz="2400" b="1" dirty="0">
                <a:solidFill>
                  <a:schemeClr val="bg1"/>
                </a:solidFill>
              </a:rPr>
              <a:t>USD</a:t>
            </a:r>
            <a:r>
              <a:rPr lang="en-IN" sz="2400" dirty="0">
                <a:solidFill>
                  <a:schemeClr val="bg1"/>
                </a:solidFill>
              </a:rPr>
              <a:t> for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743" y="2685963"/>
            <a:ext cx="20422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400" dirty="0">
                <a:solidFill>
                  <a:schemeClr val="bg1"/>
                </a:solidFill>
              </a:rPr>
              <a:t>Data cleaning issues such as special characters and inconsistent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3813" y="2685963"/>
            <a:ext cx="1967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400" dirty="0">
                <a:solidFill>
                  <a:schemeClr val="bg1"/>
                </a:solidFill>
              </a:rPr>
              <a:t>Managing multiple dimensions like country, year, rating, and cuisine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99933" y="2685963"/>
            <a:ext cx="19675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400" dirty="0">
                <a:solidFill>
                  <a:schemeClr val="bg1"/>
                </a:solidFill>
              </a:rPr>
              <a:t>Designing dashboards that are </a:t>
            </a:r>
            <a:r>
              <a:rPr lang="en-IN" sz="2400" b="1" dirty="0">
                <a:solidFill>
                  <a:schemeClr val="bg1"/>
                </a:solidFill>
              </a:rPr>
              <a:t>clear, interactive, and user-friendly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54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390550" y="2481104"/>
            <a:ext cx="1910189" cy="1614340"/>
            <a:chOff x="2949171" y="701511"/>
            <a:chExt cx="8494969" cy="5454976"/>
          </a:xfrm>
        </p:grpSpPr>
        <p:sp>
          <p:nvSpPr>
            <p:cNvPr id="5" name="Rectangle 4"/>
            <p:cNvSpPr/>
            <p:nvPr/>
          </p:nvSpPr>
          <p:spPr>
            <a:xfrm>
              <a:off x="7032395" y="701511"/>
              <a:ext cx="4411745" cy="5454976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949171" y="829559"/>
              <a:ext cx="8295089" cy="5156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588672" y="2481104"/>
            <a:ext cx="1910189" cy="1614340"/>
            <a:chOff x="2949171" y="701511"/>
            <a:chExt cx="8494969" cy="5454976"/>
          </a:xfrm>
        </p:grpSpPr>
        <p:sp>
          <p:nvSpPr>
            <p:cNvPr id="20" name="Rectangle 19"/>
            <p:cNvSpPr/>
            <p:nvPr/>
          </p:nvSpPr>
          <p:spPr>
            <a:xfrm>
              <a:off x="7032395" y="701511"/>
              <a:ext cx="4411745" cy="5454976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949171" y="829559"/>
              <a:ext cx="8295089" cy="5156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999660" y="2481104"/>
            <a:ext cx="1910189" cy="1614340"/>
            <a:chOff x="2949171" y="701511"/>
            <a:chExt cx="8494969" cy="5454976"/>
          </a:xfrm>
        </p:grpSpPr>
        <p:sp>
          <p:nvSpPr>
            <p:cNvPr id="23" name="Rectangle 22"/>
            <p:cNvSpPr/>
            <p:nvPr/>
          </p:nvSpPr>
          <p:spPr>
            <a:xfrm>
              <a:off x="7032395" y="701511"/>
              <a:ext cx="4411745" cy="5454976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949171" y="829559"/>
              <a:ext cx="8295089" cy="5156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373054" y="2474827"/>
            <a:ext cx="1910189" cy="1614340"/>
            <a:chOff x="2949171" y="701511"/>
            <a:chExt cx="8494969" cy="5454976"/>
          </a:xfrm>
        </p:grpSpPr>
        <p:sp>
          <p:nvSpPr>
            <p:cNvPr id="26" name="Rectangle 25"/>
            <p:cNvSpPr/>
            <p:nvPr/>
          </p:nvSpPr>
          <p:spPr>
            <a:xfrm>
              <a:off x="7032395" y="701511"/>
              <a:ext cx="4411745" cy="5454976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949171" y="829559"/>
              <a:ext cx="8295089" cy="5156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9784042" y="2468550"/>
            <a:ext cx="1910189" cy="1614340"/>
            <a:chOff x="2949171" y="701511"/>
            <a:chExt cx="8494969" cy="5454976"/>
          </a:xfrm>
        </p:grpSpPr>
        <p:sp>
          <p:nvSpPr>
            <p:cNvPr id="29" name="Rectangle 28"/>
            <p:cNvSpPr/>
            <p:nvPr/>
          </p:nvSpPr>
          <p:spPr>
            <a:xfrm>
              <a:off x="7032395" y="701511"/>
              <a:ext cx="4411745" cy="5454976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949171" y="829559"/>
              <a:ext cx="8295089" cy="5156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3074" name="Picture 2" descr="Country Cliparts Black #3023161 | Clipart Libra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26" y="2749514"/>
            <a:ext cx="1064965" cy="1064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taurant building icon in simple black design isolated on white  background 20398629 Vector Art at Vecteezy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9" b="12481"/>
          <a:stretch/>
        </p:blipFill>
        <p:spPr bwMode="auto">
          <a:xfrm>
            <a:off x="2543727" y="2518998"/>
            <a:ext cx="1844062" cy="1392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taurant icon vector black and white color Stock Vector | Adobe Stock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3" t="10000" r="9366" b="11067"/>
          <a:stretch/>
        </p:blipFill>
        <p:spPr bwMode="auto">
          <a:xfrm>
            <a:off x="9971850" y="2518998"/>
            <a:ext cx="1489628" cy="1448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ating Icon Graphic by Symbolic Language · Creative Fabric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30" t="20596" r="24195" b="19991"/>
          <a:stretch/>
        </p:blipFill>
        <p:spPr bwMode="auto">
          <a:xfrm>
            <a:off x="4850994" y="2562625"/>
            <a:ext cx="1840250" cy="1438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Hand Voting Ballot Box Icon Election Stock Vector (Royalty Free) 2626892757  | Shutterstock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9" b="15357"/>
          <a:stretch/>
        </p:blipFill>
        <p:spPr bwMode="auto">
          <a:xfrm>
            <a:off x="7192043" y="2562625"/>
            <a:ext cx="1758010" cy="1460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" name="TextBox 3071"/>
          <p:cNvSpPr txBox="1"/>
          <p:nvPr/>
        </p:nvSpPr>
        <p:spPr>
          <a:xfrm>
            <a:off x="572882" y="469900"/>
            <a:ext cx="5359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KEY INSIGHTS</a:t>
            </a:r>
          </a:p>
          <a:p>
            <a:r>
              <a:rPr lang="en-IN" sz="3200" b="1" dirty="0" smtClean="0">
                <a:solidFill>
                  <a:srgbClr val="F90B55"/>
                </a:solidFill>
              </a:rPr>
              <a:t>Overall Performance</a:t>
            </a:r>
            <a:endParaRPr lang="en-IN" sz="3200" b="1" dirty="0">
              <a:solidFill>
                <a:srgbClr val="F90B55"/>
              </a:solidFill>
            </a:endParaRPr>
          </a:p>
        </p:txBody>
      </p:sp>
      <p:sp>
        <p:nvSpPr>
          <p:cNvPr id="3073" name="TextBox 3072"/>
          <p:cNvSpPr txBox="1"/>
          <p:nvPr/>
        </p:nvSpPr>
        <p:spPr>
          <a:xfrm>
            <a:off x="665791" y="4275512"/>
            <a:ext cx="1549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15 </a:t>
            </a:r>
            <a:r>
              <a:rPr lang="en-IN" sz="2400" b="1" dirty="0" smtClean="0">
                <a:solidFill>
                  <a:srgbClr val="F90B55"/>
                </a:solidFill>
              </a:rPr>
              <a:t>Countries </a:t>
            </a:r>
            <a:endParaRPr lang="en-IN" sz="2400" b="1" dirty="0">
              <a:solidFill>
                <a:srgbClr val="F90B55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100195" y="4275509"/>
            <a:ext cx="15490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1,800+</a:t>
            </a:r>
          </a:p>
          <a:p>
            <a:pPr algn="ctr"/>
            <a:r>
              <a:rPr lang="en-IN" sz="2400" b="1" dirty="0" smtClean="0">
                <a:solidFill>
                  <a:srgbClr val="F90B55"/>
                </a:solidFill>
              </a:rPr>
              <a:t>Cuisines</a:t>
            </a:r>
            <a:r>
              <a:rPr lang="en-IN" sz="2400" b="1" dirty="0" smtClean="0"/>
              <a:t> </a:t>
            </a:r>
            <a:endParaRPr lang="en-IN" sz="240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7520636" y="4275509"/>
            <a:ext cx="19310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1.49 M </a:t>
            </a:r>
          </a:p>
          <a:p>
            <a:pPr algn="ctr"/>
            <a:r>
              <a:rPr lang="en-IN" sz="2400" b="1" dirty="0" smtClean="0">
                <a:solidFill>
                  <a:srgbClr val="F90B55"/>
                </a:solidFill>
              </a:rPr>
              <a:t>Total Votes </a:t>
            </a:r>
            <a:endParaRPr lang="en-IN" sz="2400" b="1" dirty="0">
              <a:solidFill>
                <a:srgbClr val="F90B55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03837" y="4275509"/>
            <a:ext cx="20996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2.89 </a:t>
            </a:r>
          </a:p>
          <a:p>
            <a:pPr algn="ctr"/>
            <a:r>
              <a:rPr lang="en-IN" sz="2400" b="1" dirty="0" smtClean="0">
                <a:solidFill>
                  <a:srgbClr val="F90B55"/>
                </a:solidFill>
              </a:rPr>
              <a:t>Average Rating </a:t>
            </a:r>
            <a:endParaRPr lang="en-IN" sz="2400" b="1" dirty="0">
              <a:solidFill>
                <a:srgbClr val="F90B55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46748" y="4279137"/>
            <a:ext cx="1752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 smtClean="0"/>
              <a:t>9,551 </a:t>
            </a:r>
            <a:r>
              <a:rPr lang="en-IN" sz="2400" b="1" dirty="0" smtClean="0">
                <a:solidFill>
                  <a:srgbClr val="F90B55"/>
                </a:solidFill>
              </a:rPr>
              <a:t>Restaurants</a:t>
            </a:r>
            <a:r>
              <a:rPr lang="en-IN" sz="2400" b="1" dirty="0" smtClean="0"/>
              <a:t>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754300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88900"/>
            <a:ext cx="391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SERVICES OFFERED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612120"/>
            <a:ext cx="6146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90B55"/>
                </a:solidFill>
              </a:rPr>
              <a:t>Online Delivery &amp; Table </a:t>
            </a:r>
            <a:r>
              <a:rPr lang="en-IN" sz="2800" b="1" dirty="0" smtClean="0">
                <a:solidFill>
                  <a:srgbClr val="F90B55"/>
                </a:solidFill>
              </a:rPr>
              <a:t>Booking</a:t>
            </a:r>
            <a:endParaRPr lang="en-IN" sz="2800" dirty="0">
              <a:solidFill>
                <a:srgbClr val="F90B55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60" y="1675372"/>
            <a:ext cx="3141111" cy="28777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306" y="1675372"/>
            <a:ext cx="3274707" cy="28777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20758" y="4709738"/>
            <a:ext cx="48783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ea typeface="Times New Roman" panose="02020603050405020304" pitchFamily="18" charset="0"/>
              </a:rPr>
              <a:t>Only </a:t>
            </a:r>
            <a:r>
              <a:rPr lang="en-IN" sz="2000" b="1" dirty="0">
                <a:ea typeface="Times New Roman" panose="02020603050405020304" pitchFamily="18" charset="0"/>
              </a:rPr>
              <a:t>26%</a:t>
            </a:r>
            <a:r>
              <a:rPr lang="en-IN" sz="2000" dirty="0">
                <a:ea typeface="Times New Roman" panose="02020603050405020304" pitchFamily="18" charset="0"/>
              </a:rPr>
              <a:t> of restaurants offer </a:t>
            </a:r>
            <a:r>
              <a:rPr lang="en-IN" sz="2000" b="1" dirty="0">
                <a:ea typeface="Times New Roman" panose="02020603050405020304" pitchFamily="18" charset="0"/>
              </a:rPr>
              <a:t>online delivery</a:t>
            </a:r>
            <a:endParaRPr lang="en-IN" sz="2000" dirty="0"/>
          </a:p>
        </p:txBody>
      </p:sp>
      <p:sp>
        <p:nvSpPr>
          <p:cNvPr id="7" name="Rectangle 6"/>
          <p:cNvSpPr/>
          <p:nvPr/>
        </p:nvSpPr>
        <p:spPr>
          <a:xfrm>
            <a:off x="609999" y="4704481"/>
            <a:ext cx="4504759" cy="4053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Just </a:t>
            </a:r>
            <a:r>
              <a:rPr lang="en-IN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12%</a:t>
            </a:r>
            <a:r>
              <a:rPr lang="en-IN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provide </a:t>
            </a:r>
            <a:r>
              <a:rPr lang="en-IN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table booking facilities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5750351"/>
            <a:ext cx="12192000" cy="811882"/>
          </a:xfrm>
          <a:prstGeom prst="rect">
            <a:avLst/>
          </a:prstGeom>
          <a:solidFill>
            <a:srgbClr val="F90B55"/>
          </a:solidFill>
          <a:ln>
            <a:solidFill>
              <a:srgbClr val="F90B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B354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6033" y="5925459"/>
            <a:ext cx="11098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dirty="0">
                <a:solidFill>
                  <a:schemeClr val="bg1"/>
                </a:solidFill>
              </a:rPr>
              <a:t>Majority of restaurants still operate without these services, indicating </a:t>
            </a:r>
            <a:r>
              <a:rPr lang="en-IN" sz="2400" b="1" dirty="0">
                <a:solidFill>
                  <a:schemeClr val="bg1"/>
                </a:solidFill>
              </a:rPr>
              <a:t>growth </a:t>
            </a:r>
            <a:r>
              <a:rPr lang="en-IN" sz="2400" b="1" dirty="0" smtClean="0">
                <a:solidFill>
                  <a:schemeClr val="bg1"/>
                </a:solidFill>
              </a:rPr>
              <a:t>potential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9436"/>
            <a:ext cx="7777113" cy="43834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9939" y="150829"/>
            <a:ext cx="500563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/>
              <a:t>COST &amp; RATINGS</a:t>
            </a:r>
          </a:p>
          <a:p>
            <a:r>
              <a:rPr lang="en-IN" sz="2400" b="1" dirty="0" smtClean="0">
                <a:solidFill>
                  <a:srgbClr val="F90B55"/>
                </a:solidFill>
              </a:rPr>
              <a:t>Pricing </a:t>
            </a:r>
            <a:r>
              <a:rPr lang="en-IN" sz="2400" b="1" dirty="0">
                <a:solidFill>
                  <a:srgbClr val="F90B55"/>
                </a:solidFill>
              </a:rPr>
              <a:t>and Customer Ratings</a:t>
            </a:r>
            <a:endParaRPr lang="en-IN" sz="2400" dirty="0">
              <a:solidFill>
                <a:srgbClr val="F90B55"/>
              </a:solidFill>
            </a:endParaRP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29939" y="5872900"/>
            <a:ext cx="6096000" cy="837280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Singapore</a:t>
            </a:r>
            <a:r>
              <a:rPr lang="en-IN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has the highest average cost for two</a:t>
            </a:r>
            <a:endParaRPr lang="en-IN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India and </a:t>
            </a:r>
            <a:r>
              <a:rPr lang="en-IN" sz="2000" b="1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Turkey</a:t>
            </a:r>
            <a:r>
              <a:rPr lang="en-IN" sz="2000" dirty="0" smtClean="0"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have the lowest average cost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1002" y="4100815"/>
            <a:ext cx="3733937" cy="1772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71002" y="1743959"/>
            <a:ext cx="32993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000" dirty="0"/>
              <a:t>Most restaurants fall under </a:t>
            </a:r>
            <a:r>
              <a:rPr lang="en-IN" sz="2000" b="1" dirty="0"/>
              <a:t>rating </a:t>
            </a:r>
            <a:r>
              <a:rPr lang="en-IN" sz="2000" b="1" dirty="0" smtClean="0"/>
              <a:t>3 to 4</a:t>
            </a:r>
          </a:p>
          <a:p>
            <a:pPr lvl="0"/>
            <a:endParaRPr lang="en-IN" sz="2000" dirty="0"/>
          </a:p>
          <a:p>
            <a:pPr lvl="0"/>
            <a:r>
              <a:rPr lang="en-IN" sz="2000" dirty="0"/>
              <a:t>Very few restaurants achieve top ratings, highlighting quality </a:t>
            </a:r>
            <a:r>
              <a:rPr lang="en-IN" sz="2000" dirty="0" smtClean="0"/>
              <a:t>gaps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2882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511" y="141402"/>
            <a:ext cx="5392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smtClean="0"/>
              <a:t>TIME &amp; GEOGRAPHY</a:t>
            </a:r>
            <a:endParaRPr lang="en-IN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320511" y="565609"/>
            <a:ext cx="6240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90B55"/>
                </a:solidFill>
              </a:rPr>
              <a:t>Year-wise and Country-wise </a:t>
            </a:r>
            <a:r>
              <a:rPr lang="en-IN" sz="2400" b="1" dirty="0" smtClean="0">
                <a:solidFill>
                  <a:srgbClr val="F90B55"/>
                </a:solidFill>
              </a:rPr>
              <a:t>Trends</a:t>
            </a:r>
            <a:endParaRPr lang="en-IN" dirty="0">
              <a:solidFill>
                <a:srgbClr val="F90B55"/>
              </a:solidFill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6304249" y="1398457"/>
            <a:ext cx="3697589" cy="3526618"/>
            <a:chOff x="8444135" y="1384747"/>
            <a:chExt cx="3413780" cy="3526618"/>
          </a:xfrm>
        </p:grpSpPr>
        <p:grpSp>
          <p:nvGrpSpPr>
            <p:cNvPr id="15" name="Group 14"/>
            <p:cNvGrpSpPr/>
            <p:nvPr/>
          </p:nvGrpSpPr>
          <p:grpSpPr>
            <a:xfrm>
              <a:off x="8444135" y="1384747"/>
              <a:ext cx="3413780" cy="3526618"/>
              <a:chOff x="6513921" y="1395164"/>
              <a:chExt cx="4961051" cy="4176075"/>
            </a:xfrm>
          </p:grpSpPr>
          <p:grpSp>
            <p:nvGrpSpPr>
              <p:cNvPr id="16" name="Group 15"/>
              <p:cNvGrpSpPr/>
              <p:nvPr/>
            </p:nvGrpSpPr>
            <p:grpSpPr>
              <a:xfrm rot="10800000">
                <a:off x="6513921" y="1395164"/>
                <a:ext cx="4896391" cy="4176075"/>
                <a:chOff x="2949171" y="701511"/>
                <a:chExt cx="8494969" cy="5454976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7032395" y="701511"/>
                  <a:ext cx="4411745" cy="5454976"/>
                </a:xfrm>
                <a:prstGeom prst="rect">
                  <a:avLst/>
                </a:prstGeom>
                <a:solidFill>
                  <a:srgbClr val="F90B55"/>
                </a:solidFill>
                <a:ln>
                  <a:solidFill>
                    <a:srgbClr val="F90B5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FB3543"/>
                    </a:solidFill>
                  </a:endParaRP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2949171" y="829559"/>
                  <a:ext cx="8295089" cy="51564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17" name="Rectangle 16"/>
              <p:cNvSpPr/>
              <p:nvPr/>
            </p:nvSpPr>
            <p:spPr>
              <a:xfrm>
                <a:off x="6808703" y="1706746"/>
                <a:ext cx="4666269" cy="3562340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</p:grpSp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2"/>
            <a:srcRect l="11228"/>
            <a:stretch/>
          </p:blipFill>
          <p:spPr>
            <a:xfrm>
              <a:off x="8849404" y="1865399"/>
              <a:ext cx="2733540" cy="2565314"/>
            </a:xfrm>
            <a:prstGeom prst="rect">
              <a:avLst/>
            </a:prstGeom>
          </p:spPr>
        </p:pic>
      </p:grpSp>
      <p:grpSp>
        <p:nvGrpSpPr>
          <p:cNvPr id="26" name="Group 25"/>
          <p:cNvGrpSpPr/>
          <p:nvPr/>
        </p:nvGrpSpPr>
        <p:grpSpPr>
          <a:xfrm>
            <a:off x="988537" y="1398458"/>
            <a:ext cx="3809705" cy="3663736"/>
            <a:chOff x="243821" y="1384748"/>
            <a:chExt cx="3413780" cy="3526617"/>
          </a:xfrm>
        </p:grpSpPr>
        <p:grpSp>
          <p:nvGrpSpPr>
            <p:cNvPr id="4" name="Group 3"/>
            <p:cNvGrpSpPr/>
            <p:nvPr/>
          </p:nvGrpSpPr>
          <p:grpSpPr>
            <a:xfrm>
              <a:off x="243821" y="1384748"/>
              <a:ext cx="3413780" cy="3526617"/>
              <a:chOff x="6513921" y="1395164"/>
              <a:chExt cx="4961051" cy="4176075"/>
            </a:xfrm>
          </p:grpSpPr>
          <p:grpSp>
            <p:nvGrpSpPr>
              <p:cNvPr id="5" name="Group 4"/>
              <p:cNvGrpSpPr/>
              <p:nvPr/>
            </p:nvGrpSpPr>
            <p:grpSpPr>
              <a:xfrm rot="10800000">
                <a:off x="6513921" y="1395164"/>
                <a:ext cx="4896391" cy="4176075"/>
                <a:chOff x="2949171" y="701511"/>
                <a:chExt cx="8494969" cy="5454976"/>
              </a:xfrm>
            </p:grpSpPr>
            <p:sp>
              <p:nvSpPr>
                <p:cNvPr id="7" name="Rectangle 6"/>
                <p:cNvSpPr/>
                <p:nvPr/>
              </p:nvSpPr>
              <p:spPr>
                <a:xfrm>
                  <a:off x="7032395" y="701511"/>
                  <a:ext cx="4411745" cy="5454976"/>
                </a:xfrm>
                <a:prstGeom prst="rect">
                  <a:avLst/>
                </a:prstGeom>
                <a:solidFill>
                  <a:srgbClr val="F90B55"/>
                </a:solidFill>
                <a:ln>
                  <a:solidFill>
                    <a:srgbClr val="F90B5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>
                    <a:solidFill>
                      <a:srgbClr val="FB3543"/>
                    </a:solidFill>
                  </a:endParaRPr>
                </a:p>
              </p:txBody>
            </p:sp>
            <p:sp>
              <p:nvSpPr>
                <p:cNvPr id="8" name="Rectangle 7"/>
                <p:cNvSpPr/>
                <p:nvPr/>
              </p:nvSpPr>
              <p:spPr>
                <a:xfrm>
                  <a:off x="2949171" y="829559"/>
                  <a:ext cx="8295089" cy="515646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6" name="Rectangle 5"/>
              <p:cNvSpPr/>
              <p:nvPr/>
            </p:nvSpPr>
            <p:spPr>
              <a:xfrm>
                <a:off x="6808703" y="1706746"/>
                <a:ext cx="4666269" cy="3562340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889" y="1852475"/>
              <a:ext cx="2896003" cy="2591162"/>
            </a:xfrm>
            <a:prstGeom prst="rect">
              <a:avLst/>
            </a:prstGeom>
          </p:spPr>
        </p:pic>
      </p:grpSp>
      <p:sp>
        <p:nvSpPr>
          <p:cNvPr id="27" name="TextBox 26"/>
          <p:cNvSpPr txBox="1"/>
          <p:nvPr/>
        </p:nvSpPr>
        <p:spPr>
          <a:xfrm>
            <a:off x="1413801" y="5291235"/>
            <a:ext cx="35686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dirty="0"/>
              <a:t>Restaurant openings peaked around </a:t>
            </a:r>
            <a:r>
              <a:rPr lang="en-IN" sz="2400" b="1" dirty="0" smtClean="0"/>
              <a:t>2018</a:t>
            </a:r>
            <a:endParaRPr lang="en-IN" sz="2400" dirty="0"/>
          </a:p>
        </p:txBody>
      </p:sp>
      <p:sp>
        <p:nvSpPr>
          <p:cNvPr id="28" name="TextBox 27"/>
          <p:cNvSpPr txBox="1"/>
          <p:nvPr/>
        </p:nvSpPr>
        <p:spPr>
          <a:xfrm>
            <a:off x="6523957" y="5291235"/>
            <a:ext cx="5016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2400" dirty="0"/>
              <a:t>Popular cuisines </a:t>
            </a:r>
            <a:r>
              <a:rPr lang="en-IN" sz="2400" dirty="0" smtClean="0"/>
              <a:t>include</a:t>
            </a:r>
          </a:p>
          <a:p>
            <a:pPr lvl="0"/>
            <a:r>
              <a:rPr lang="en-IN" sz="2400" dirty="0" smtClean="0"/>
              <a:t> </a:t>
            </a:r>
            <a:r>
              <a:rPr lang="en-IN" sz="2400" b="1" dirty="0"/>
              <a:t>North Indian, Chinese, and Fast Food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50772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71"/>
          <a:stretch/>
        </p:blipFill>
        <p:spPr>
          <a:xfrm>
            <a:off x="1180413" y="277192"/>
            <a:ext cx="9831172" cy="49923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545995" y="5599264"/>
            <a:ext cx="8719794" cy="985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Majority of restaurants are concentrated in </a:t>
            </a:r>
            <a:r>
              <a:rPr lang="en-IN" sz="24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India</a:t>
            </a:r>
            <a:endParaRPr lang="en-IN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Other countries show limited but growing presence</a:t>
            </a:r>
            <a:endParaRPr lang="en-IN" sz="2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44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143000"/>
            <a:ext cx="9829800" cy="54595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40093"/>
            <a:ext cx="7302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POWER BI  </a:t>
            </a:r>
            <a:r>
              <a:rPr lang="en-IN" sz="3600" b="1" dirty="0" smtClean="0">
                <a:solidFill>
                  <a:srgbClr val="F90B55"/>
                </a:solidFill>
              </a:rPr>
              <a:t>DASHBOARD</a:t>
            </a:r>
            <a:endParaRPr lang="en-IN" b="1" dirty="0">
              <a:solidFill>
                <a:srgbClr val="F90B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266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" y="738098"/>
            <a:ext cx="11563939" cy="59360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6700" y="140093"/>
            <a:ext cx="7284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TABLEAU</a:t>
            </a:r>
            <a:r>
              <a:rPr lang="en-IN" sz="3600" b="1" dirty="0" smtClean="0"/>
              <a:t>  </a:t>
            </a:r>
            <a:r>
              <a:rPr lang="en-IN" sz="3600" b="1" dirty="0" smtClean="0">
                <a:solidFill>
                  <a:srgbClr val="F90B55"/>
                </a:solidFill>
              </a:rPr>
              <a:t>DASHBOARD</a:t>
            </a:r>
            <a:endParaRPr lang="en-IN" b="1" dirty="0">
              <a:solidFill>
                <a:srgbClr val="F90B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726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7" y="1216057"/>
            <a:ext cx="11802359" cy="54958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140093"/>
            <a:ext cx="7284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 smtClean="0"/>
              <a:t>EXCEL  </a:t>
            </a:r>
            <a:r>
              <a:rPr lang="en-IN" sz="3600" b="1" dirty="0" smtClean="0">
                <a:solidFill>
                  <a:srgbClr val="F90B55"/>
                </a:solidFill>
              </a:rPr>
              <a:t>DASHBOARD</a:t>
            </a:r>
            <a:endParaRPr lang="en-IN" b="1" dirty="0">
              <a:solidFill>
                <a:srgbClr val="F90B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834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7324627" cy="6858000"/>
          </a:xfrm>
          <a:prstGeom prst="rect">
            <a:avLst/>
          </a:prstGeom>
          <a:solidFill>
            <a:srgbClr val="F90B55"/>
          </a:solidFill>
          <a:ln>
            <a:solidFill>
              <a:srgbClr val="F90B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B3543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344604" y="271020"/>
            <a:ext cx="6410227" cy="6315959"/>
            <a:chOff x="8113204" y="-545576"/>
            <a:chExt cx="6410227" cy="6315959"/>
          </a:xfrm>
        </p:grpSpPr>
        <p:grpSp>
          <p:nvGrpSpPr>
            <p:cNvPr id="8" name="Group 7"/>
            <p:cNvGrpSpPr/>
            <p:nvPr/>
          </p:nvGrpSpPr>
          <p:grpSpPr>
            <a:xfrm>
              <a:off x="8113204" y="-545576"/>
              <a:ext cx="6410227" cy="6315959"/>
              <a:chOff x="2949171" y="701511"/>
              <a:chExt cx="8494969" cy="5454976"/>
            </a:xfrm>
          </p:grpSpPr>
          <p:sp>
            <p:nvSpPr>
              <p:cNvPr id="6" name="Rectangle 5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5" name="Rectangle 4"/>
            <p:cNvSpPr/>
            <p:nvPr/>
          </p:nvSpPr>
          <p:spPr>
            <a:xfrm>
              <a:off x="8168364" y="-305152"/>
              <a:ext cx="6052007" cy="5785996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496963" y="419278"/>
            <a:ext cx="3746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 smtClean="0">
                <a:solidFill>
                  <a:schemeClr val="bg1"/>
                </a:solidFill>
              </a:rPr>
              <a:t>CONCLUSION</a:t>
            </a:r>
            <a:endParaRPr lang="en-IN" sz="4800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656" y="1828800"/>
            <a:ext cx="45195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This </a:t>
            </a:r>
            <a:r>
              <a:rPr lang="en-IN" sz="2400" dirty="0" err="1">
                <a:solidFill>
                  <a:schemeClr val="bg1"/>
                </a:solidFill>
              </a:rPr>
              <a:t>Zomato</a:t>
            </a:r>
            <a:r>
              <a:rPr lang="en-IN" sz="2400" dirty="0">
                <a:solidFill>
                  <a:schemeClr val="bg1"/>
                </a:solidFill>
              </a:rPr>
              <a:t> Restaurants Analysis provides valuable insights into global restaurant trends, customer preferences, and service availability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</a:p>
          <a:p>
            <a:endParaRPr lang="en-IN" sz="2400" dirty="0" smtClean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Overall, data visualization helped transform complex data into </a:t>
            </a:r>
            <a:r>
              <a:rPr lang="en-IN" sz="2400" b="1" dirty="0">
                <a:solidFill>
                  <a:schemeClr val="bg1"/>
                </a:solidFill>
              </a:rPr>
              <a:t>clear, actionable insights</a:t>
            </a:r>
            <a:r>
              <a:rPr lang="en-IN" sz="2400" dirty="0">
                <a:solidFill>
                  <a:schemeClr val="bg1"/>
                </a:solidFill>
              </a:rPr>
              <a:t> for business decision-making</a:t>
            </a:r>
            <a:r>
              <a:rPr lang="en-IN" sz="2400" dirty="0" smtClean="0">
                <a:solidFill>
                  <a:schemeClr val="bg1"/>
                </a:solidFill>
              </a:rPr>
              <a:t>.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08003" y="2000722"/>
            <a:ext cx="5782297" cy="326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The analysis highlights:</a:t>
            </a:r>
            <a:endParaRPr lang="en-IN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Strong presence in selected countries</a:t>
            </a:r>
            <a:endParaRPr lang="en-IN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Opportunity to expand online delivery and table booking</a:t>
            </a:r>
            <a:endParaRPr lang="en-IN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Pricing differences across regions</a:t>
            </a:r>
            <a:endParaRPr lang="en-IN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a typeface="Times New Roman" panose="02020603050405020304" pitchFamily="18" charset="0"/>
                <a:cs typeface="Times New Roman" panose="02020603050405020304" pitchFamily="18" charset="0"/>
              </a:rPr>
              <a:t>Scope for improving restaurant ratings and customer satisfaction</a:t>
            </a:r>
            <a:endParaRPr lang="en-IN" sz="2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6007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 rot="10800000">
            <a:off x="311082" y="1469589"/>
            <a:ext cx="5526541" cy="4176075"/>
            <a:chOff x="2949171" y="701511"/>
            <a:chExt cx="8494969" cy="5454976"/>
          </a:xfrm>
        </p:grpSpPr>
        <p:sp>
          <p:nvSpPr>
            <p:cNvPr id="5" name="Rectangle 4"/>
            <p:cNvSpPr/>
            <p:nvPr/>
          </p:nvSpPr>
          <p:spPr>
            <a:xfrm>
              <a:off x="7032395" y="701511"/>
              <a:ext cx="4411745" cy="5454976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2949171" y="829559"/>
              <a:ext cx="8295089" cy="515646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" name="Group 6"/>
          <p:cNvGrpSpPr/>
          <p:nvPr/>
        </p:nvGrpSpPr>
        <p:grpSpPr>
          <a:xfrm rot="10800000">
            <a:off x="622169" y="1469588"/>
            <a:ext cx="11241733" cy="4176075"/>
            <a:chOff x="6513921" y="1395164"/>
            <a:chExt cx="11796326" cy="4176075"/>
          </a:xfrm>
        </p:grpSpPr>
        <p:grpSp>
          <p:nvGrpSpPr>
            <p:cNvPr id="8" name="Group 7"/>
            <p:cNvGrpSpPr/>
            <p:nvPr/>
          </p:nvGrpSpPr>
          <p:grpSpPr>
            <a:xfrm rot="10800000">
              <a:off x="6513921" y="1395164"/>
              <a:ext cx="4896391" cy="4176075"/>
              <a:chOff x="2949171" y="701511"/>
              <a:chExt cx="8494969" cy="5454976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7032395" y="701511"/>
                <a:ext cx="4411745" cy="5454976"/>
              </a:xfrm>
              <a:prstGeom prst="rect">
                <a:avLst/>
              </a:prstGeom>
              <a:solidFill>
                <a:srgbClr val="F90B55"/>
              </a:solidFill>
              <a:ln>
                <a:solidFill>
                  <a:srgbClr val="F90B5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rgbClr val="FB3543"/>
                  </a:solidFill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2949171" y="829559"/>
                <a:ext cx="8295089" cy="51564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9" name="Rectangle 8"/>
            <p:cNvSpPr/>
            <p:nvPr/>
          </p:nvSpPr>
          <p:spPr>
            <a:xfrm>
              <a:off x="6808703" y="1706746"/>
              <a:ext cx="11501544" cy="3562340"/>
            </a:xfrm>
            <a:prstGeom prst="rect">
              <a:avLst/>
            </a:prstGeom>
            <a:solidFill>
              <a:srgbClr val="F90B55"/>
            </a:solidFill>
            <a:ln>
              <a:solidFill>
                <a:srgbClr val="F90B5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FB3543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395998" y="2465868"/>
            <a:ext cx="98298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800" b="1" dirty="0" smtClean="0">
                <a:solidFill>
                  <a:schemeClr val="bg1"/>
                </a:solidFill>
              </a:rPr>
              <a:t>THANK  YOU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571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341</Words>
  <Application>Microsoft Office PowerPoint</Application>
  <PresentationFormat>Widescreen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25</cp:revision>
  <dcterms:created xsi:type="dcterms:W3CDTF">2025-12-12T15:08:42Z</dcterms:created>
  <dcterms:modified xsi:type="dcterms:W3CDTF">2025-12-15T08:36:43Z</dcterms:modified>
</cp:coreProperties>
</file>